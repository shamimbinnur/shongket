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F26A2E" accent2="26734D" accent3="77736D" accent4="D8D2C8" accent5="171717" accent6="EBE7DF" bg1="FFFFFF" bg2="F5F3EE" folHlink="F26A2E" hlink="F26A2E" tx1="171717" tx2="77736D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hongket-logo.png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pic>
        <p:nvPicPr>
          <p:cNvPr id="4" name="Shongke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"/>
            <a:ext cx="4206240" cy="210312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31520" y="182880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4800" b="1">
                <a:solidFill>
                  <a:srgbClr val="F5F3EE"/>
                </a:solidFill>
                <a:latin typeface="Arial"/>
              </a:rPr>
              <a:t>Shongket</a:t>
            </a:r>
            <a:endParaRPr lang="en-US"/>
          </a:p>
        </p:txBody>
      </p:sp>
      <p:sp>
        <p:nvSpPr>
          <p:cNvPr id="6" name="Text"/>
          <p:cNvSpPr txBox="1"/>
          <p:nvPr/>
        </p:nvSpPr>
        <p:spPr>
          <a:xfrm>
            <a:off x="768096" y="276148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400" b="0">
                <a:solidFill>
                  <a:srgbClr val="F5F3EE"/>
                </a:solidFill>
                <a:latin typeface="Arial"/>
              </a:rPr>
              <a:t>Beyond the mobile coverage</a:t>
            </a:r>
            <a:endParaRPr lang="en-US"/>
          </a:p>
        </p:txBody>
      </p:sp>
      <p:sp>
        <p:nvSpPr>
          <p:cNvPr id="7" name="Panel"/>
          <p:cNvSpPr/>
          <p:nvPr/>
        </p:nvSpPr>
        <p:spPr>
          <a:xfrm>
            <a:off x="768096" y="3456432"/>
            <a:ext cx="5212080" cy="36576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768096" y="3803904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200" b="0">
                <a:solidFill>
                  <a:srgbClr val="F5F3EE"/>
                </a:solidFill>
                <a:latin typeface="Arial"/>
              </a:rPr>
              <a:t>A LoRa crew communication system with an optional phone companion</a:t>
            </a:r>
            <a:endParaRPr lang="en-US"/>
          </a:p>
        </p:txBody>
      </p:sp>
      <p:sp>
        <p:nvSpPr>
          <p:cNvPr id="9" name="Text"/>
          <p:cNvSpPr txBox="1"/>
          <p:nvPr/>
        </p:nvSpPr>
        <p:spPr>
          <a:xfrm>
            <a:off x="768096" y="620877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F5F3EE"/>
                </a:solidFill>
                <a:latin typeface="Arial"/>
              </a:rPr>
              <a:t>[Course / University]  •  [Student name(s)]  •  [Professor]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The problem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02</a:t>
            </a:r>
            <a:endParaRPr lang="en-US"/>
          </a:p>
        </p:txBody>
      </p:sp>
      <p:sp>
        <p:nvSpPr>
          <p:cNvPr id="8" name="Text"/>
          <p:cNvSpPr txBox="1"/>
          <p:nvPr/>
        </p:nvSpPr>
        <p:spPr>
          <a:xfrm>
            <a:off x="731520" y="164592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700" b="1">
                <a:solidFill>
                  <a:srgbClr val="171717"/>
                </a:solidFill>
                <a:latin typeface="Arial"/>
              </a:rPr>
              <a:t>Mobile messaging depends on infrastructure.</a:t>
            </a:r>
            <a:endParaRPr lang="en-US"/>
          </a:p>
        </p:txBody>
      </p:sp>
      <p:sp>
        <p:nvSpPr>
          <p:cNvPr id="9" name="Text"/>
          <p:cNvSpPr txBox="1"/>
          <p:nvPr/>
        </p:nvSpPr>
        <p:spPr>
          <a:xfrm>
            <a:off x="731520" y="2450592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100" b="0">
                <a:solidFill>
                  <a:srgbClr val="171717"/>
                </a:solidFill>
                <a:latin typeface="Arial"/>
              </a:rPr>
              <a:t>Small crews may still need short messages and location awareness where coverage is absent.</a:t>
            </a:r>
            <a:endParaRPr lang="en-US"/>
          </a:p>
        </p:txBody>
      </p:sp>
      <p:sp>
        <p:nvSpPr>
          <p:cNvPr id="10" name="Panel"/>
          <p:cNvSpPr/>
          <p:nvPr/>
        </p:nvSpPr>
        <p:spPr>
          <a:xfrm>
            <a:off x="731520" y="4069080"/>
            <a:ext cx="10698480" cy="141732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1005840" y="4297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800" b="1">
                <a:solidFill>
                  <a:srgbClr val="F26A2E"/>
                </a:solidFill>
                <a:latin typeface="Arial"/>
              </a:rPr>
              <a:t>Project goal</a:t>
            </a:r>
            <a:endParaRPr lang="en-US"/>
          </a:p>
        </p:txBody>
      </p:sp>
      <p:sp>
        <p:nvSpPr>
          <p:cNvPr id="12" name="Text"/>
          <p:cNvSpPr txBox="1"/>
          <p:nvPr/>
        </p:nvSpPr>
        <p:spPr>
          <a:xfrm>
            <a:off x="1005840" y="4736592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900" b="0">
                <a:solidFill>
                  <a:srgbClr val="171717"/>
                </a:solidFill>
                <a:latin typeface="Arial"/>
              </a:rPr>
              <a:t>An independent handheld network that can pass messages across nearby crew devices.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System overview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03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640080" y="1828800"/>
            <a:ext cx="3246120" cy="237744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841247" y="1984248"/>
            <a:ext cx="28437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Phone app</a:t>
            </a:r>
            <a:endParaRPr lang="en-US"/>
          </a:p>
        </p:txBody>
      </p:sp>
      <p:sp>
        <p:nvSpPr>
          <p:cNvPr id="10" name="Text"/>
          <p:cNvSpPr txBox="1"/>
          <p:nvPr/>
        </p:nvSpPr>
        <p:spPr>
          <a:xfrm>
            <a:off x="841247" y="2459736"/>
            <a:ext cx="2843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Read and compose through a nearby handheld over Bluetooth.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4471416" y="1828800"/>
            <a:ext cx="3246120" cy="237744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4672583" y="1984248"/>
            <a:ext cx="28437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Handheld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4672583" y="2459736"/>
            <a:ext cx="2843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ESP32, screen, keypad, GPS, and LoRa radio.</a:t>
            </a:r>
            <a:endParaRPr lang="en-US"/>
          </a:p>
        </p:txBody>
      </p:sp>
      <p:sp>
        <p:nvSpPr>
          <p:cNvPr id="14" name="Panel"/>
          <p:cNvSpPr/>
          <p:nvPr/>
        </p:nvSpPr>
        <p:spPr>
          <a:xfrm>
            <a:off x="8302752" y="1828800"/>
            <a:ext cx="3246120" cy="237744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8503920" y="1984248"/>
            <a:ext cx="284378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Crew mesh</a:t>
            </a:r>
            <a:endParaRPr lang="en-US"/>
          </a:p>
        </p:txBody>
      </p:sp>
      <p:sp>
        <p:nvSpPr>
          <p:cNvPr id="16" name="Text"/>
          <p:cNvSpPr txBox="1"/>
          <p:nvPr/>
        </p:nvSpPr>
        <p:spPr>
          <a:xfrm>
            <a:off x="8503920" y="2459736"/>
            <a:ext cx="2843784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Other handhelds receive and may relay new packets.</a:t>
            </a:r>
            <a:endParaRPr lang="en-US"/>
          </a:p>
        </p:txBody>
      </p:sp>
      <p:sp>
        <p:nvSpPr>
          <p:cNvPr id="17" name="Text"/>
          <p:cNvSpPr txBox="1"/>
          <p:nvPr/>
        </p:nvSpPr>
        <p:spPr>
          <a:xfrm>
            <a:off x="3749039" y="2770632"/>
            <a:ext cx="7680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200" b="1">
                <a:solidFill>
                  <a:srgbClr val="F26A2E"/>
                </a:solidFill>
                <a:latin typeface="Arial"/>
              </a:rPr>
              <a:t>Bluetooth</a:t>
            </a:r>
            <a:endParaRPr lang="en-US"/>
          </a:p>
        </p:txBody>
      </p:sp>
      <p:sp>
        <p:nvSpPr>
          <p:cNvPr id="18" name="Text"/>
          <p:cNvSpPr txBox="1"/>
          <p:nvPr/>
        </p:nvSpPr>
        <p:spPr>
          <a:xfrm>
            <a:off x="7754112" y="27706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en-US" sz="1200" b="1">
                <a:solidFill>
                  <a:srgbClr val="F26A2E"/>
                </a:solidFill>
                <a:latin typeface="Arial"/>
              </a:rPr>
              <a:t>LoRa</a:t>
            </a:r>
            <a:endParaRPr lang="en-US"/>
          </a:p>
        </p:txBody>
      </p:sp>
      <p:sp>
        <p:nvSpPr>
          <p:cNvPr id="19" name="Text"/>
          <p:cNvSpPr txBox="1"/>
          <p:nvPr/>
        </p:nvSpPr>
        <p:spPr>
          <a:xfrm>
            <a:off x="777240" y="4892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200" b="1">
                <a:solidFill>
                  <a:srgbClr val="171717"/>
                </a:solidFill>
                <a:latin typeface="Arial"/>
              </a:rPr>
              <a:t>No internet service or central coordinator is required.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A message can travel beyond one radio link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04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585216" y="1920240"/>
            <a:ext cx="2670048" cy="25146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786384" y="2075688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1  Send</a:t>
            </a:r>
            <a:endParaRPr lang="en-US"/>
          </a:p>
        </p:txBody>
      </p:sp>
      <p:sp>
        <p:nvSpPr>
          <p:cNvPr id="10" name="Text"/>
          <p:cNvSpPr txBox="1"/>
          <p:nvPr/>
        </p:nvSpPr>
        <p:spPr>
          <a:xfrm>
            <a:off x="786384" y="2551176"/>
            <a:ext cx="226771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The sender creates an encrypted packet.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3493008" y="1920240"/>
            <a:ext cx="2670048" cy="25146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3694176" y="2075688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2  Check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3694176" y="2551176"/>
            <a:ext cx="226771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A neighbor accepts a valid new packet.</a:t>
            </a:r>
            <a:endParaRPr lang="en-US"/>
          </a:p>
        </p:txBody>
      </p:sp>
      <p:sp>
        <p:nvSpPr>
          <p:cNvPr id="14" name="Panel"/>
          <p:cNvSpPr/>
          <p:nvPr/>
        </p:nvSpPr>
        <p:spPr>
          <a:xfrm>
            <a:off x="6400800" y="1920240"/>
            <a:ext cx="2670048" cy="25146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6601968" y="2075688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3  Relay</a:t>
            </a:r>
            <a:endParaRPr lang="en-US"/>
          </a:p>
        </p:txBody>
      </p:sp>
      <p:sp>
        <p:nvSpPr>
          <p:cNvPr id="16" name="Text"/>
          <p:cNvSpPr txBox="1"/>
          <p:nvPr/>
        </p:nvSpPr>
        <p:spPr>
          <a:xfrm>
            <a:off x="6601968" y="2551176"/>
            <a:ext cx="226771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It waits briefly, then forwards once.</a:t>
            </a:r>
            <a:endParaRPr lang="en-US"/>
          </a:p>
        </p:txBody>
      </p:sp>
      <p:sp>
        <p:nvSpPr>
          <p:cNvPr id="17" name="Panel"/>
          <p:cNvSpPr/>
          <p:nvPr/>
        </p:nvSpPr>
        <p:spPr>
          <a:xfrm>
            <a:off x="9308592" y="1920240"/>
            <a:ext cx="2670048" cy="25146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9509760" y="2075688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4  Confirm</a:t>
            </a:r>
            <a:endParaRPr lang="en-US"/>
          </a:p>
        </p:txBody>
      </p:sp>
      <p:sp>
        <p:nvSpPr>
          <p:cNvPr id="19" name="Text"/>
          <p:cNvSpPr txBox="1"/>
          <p:nvPr/>
        </p:nvSpPr>
        <p:spPr>
          <a:xfrm>
            <a:off x="9509760" y="2551176"/>
            <a:ext cx="226771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A direct recipient returns an acknowledgement.</a:t>
            </a:r>
            <a:endParaRPr lang="en-US"/>
          </a:p>
        </p:txBody>
      </p:sp>
      <p:sp>
        <p:nvSpPr>
          <p:cNvPr id="20" name="Text"/>
          <p:cNvSpPr txBox="1"/>
          <p:nvPr/>
        </p:nvSpPr>
        <p:spPr>
          <a:xfrm>
            <a:off x="731520" y="5010912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000" b="1">
                <a:solidFill>
                  <a:srgbClr val="171717"/>
                </a:solidFill>
                <a:latin typeface="Arial"/>
              </a:rPr>
              <a:t>Duplicate copies are ignored. Relaying stops after three hops.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Two ways to use Shongket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05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731520" y="1783080"/>
            <a:ext cx="5212080" cy="347472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932688" y="1938528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Handheld alone</a:t>
            </a:r>
            <a:endParaRPr lang="en-US"/>
          </a:p>
        </p:txBody>
      </p:sp>
      <p:sp>
        <p:nvSpPr>
          <p:cNvPr id="10" name="Text"/>
          <p:cNvSpPr txBox="1"/>
          <p:nvPr/>
        </p:nvSpPr>
        <p:spPr>
          <a:xfrm>
            <a:off x="932688" y="2414015"/>
            <a:ext cx="4809744" cy="2697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Keypad and screen support messages, crew information, GPS radar, and device status. The phone is optional.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236208" y="1783080"/>
            <a:ext cx="5212080" cy="347472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6437376" y="1938528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Phone companion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6437376" y="2414015"/>
            <a:ext cx="4809744" cy="2697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The app shows messages, crew, GPS, and radio health. It asks the bonded handheld to send; it does not use LoRa itself.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Security and delivery meaning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06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731520" y="1783080"/>
            <a:ext cx="5212080" cy="32004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932688" y="1938528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Shared crew key</a:t>
            </a:r>
            <a:endParaRPr lang="en-US"/>
          </a:p>
        </p:txBody>
      </p:sp>
      <p:sp>
        <p:nvSpPr>
          <p:cNvPr id="10" name="Text"/>
          <p:cNvSpPr txBox="1"/>
          <p:nvPr/>
        </p:nvSpPr>
        <p:spPr>
          <a:xfrm>
            <a:off x="932688" y="2414015"/>
            <a:ext cx="4809744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AES-128-CCM protects radio packets from outsiders without the key. Trusted crew devices share that key.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236208" y="1783080"/>
            <a:ext cx="5212080" cy="320040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6437376" y="1938528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Honest status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6437376" y="2414015"/>
            <a:ext cx="4809744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Direct delivery requires a returning acknowledgement. Crew delivery only confirms that at least one peer accepted and relayed.</a:t>
            </a:r>
            <a:endParaRPr lang="en-US"/>
          </a:p>
        </p:txBody>
      </p:sp>
      <p:sp>
        <p:nvSpPr>
          <p:cNvPr id="14" name="Text"/>
          <p:cNvSpPr txBox="1"/>
          <p:nvPr/>
        </p:nvSpPr>
        <p:spPr>
          <a:xfrm>
            <a:off x="777240" y="53035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000" b="1">
                <a:solidFill>
                  <a:srgbClr val="F26A2E"/>
                </a:solidFill>
                <a:latin typeface="Arial"/>
              </a:rPr>
              <a:t>A relay is not proof that every crew member received a message.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Validation and demonstration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07</a:t>
            </a:r>
            <a:endParaRPr lang="en-US"/>
          </a:p>
        </p:txBody>
      </p:sp>
      <p:sp>
        <p:nvSpPr>
          <p:cNvPr id="8" name="Panel"/>
          <p:cNvSpPr/>
          <p:nvPr/>
        </p:nvSpPr>
        <p:spPr>
          <a:xfrm>
            <a:off x="731520" y="1664208"/>
            <a:ext cx="5212080" cy="315468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932688" y="1819656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Available evidence</a:t>
            </a:r>
            <a:endParaRPr lang="en-US"/>
          </a:p>
        </p:txBody>
      </p:sp>
      <p:sp>
        <p:nvSpPr>
          <p:cNvPr id="10" name="Text"/>
          <p:cNvSpPr txBox="1"/>
          <p:nvPr/>
        </p:nvSpPr>
        <p:spPr>
          <a:xfrm>
            <a:off x="932688" y="2295144"/>
            <a:ext cx="480974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Firmware and app test suites cover protocol, relay state, Bluetooth framing, UI input, and radar math.</a:t>
            </a:r>
            <a:endParaRPr lang="en-US"/>
          </a:p>
        </p:txBody>
      </p:sp>
      <p:sp>
        <p:nvSpPr>
          <p:cNvPr id="11" name="Panel"/>
          <p:cNvSpPr/>
          <p:nvPr/>
        </p:nvSpPr>
        <p:spPr>
          <a:xfrm>
            <a:off x="6236208" y="1664208"/>
            <a:ext cx="5212080" cy="3154680"/>
          </a:xfrm>
          <a:prstGeom prst="rect">
            <a:avLst/>
          </a:prstGeom>
          <a:solidFill>
            <a:srgbClr val="EBE7D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6437376" y="1819656"/>
            <a:ext cx="48097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700" b="1">
                <a:solidFill>
                  <a:srgbClr val="171717"/>
                </a:solidFill>
                <a:latin typeface="Arial"/>
              </a:rPr>
              <a:t>Hardware observations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6437376" y="2295144"/>
            <a:ext cx="4809744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300" b="0">
                <a:solidFill>
                  <a:srgbClr val="171717"/>
                </a:solidFill>
                <a:latin typeface="Arial"/>
              </a:rPr>
              <a:t>[ADD DEVICE PHOTOS AND OBSERVED RESULTS] Record two-device messaging, three-device relay, phone pairing, and GPS conditions.</a:t>
            </a:r>
            <a:endParaRPr lang="en-US"/>
          </a:p>
        </p:txBody>
      </p:sp>
      <p:sp>
        <p:nvSpPr>
          <p:cNvPr id="14" name="Text"/>
          <p:cNvSpPr txBox="1"/>
          <p:nvPr/>
        </p:nvSpPr>
        <p:spPr>
          <a:xfrm>
            <a:off x="768096" y="5138928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000" b="1">
                <a:solidFill>
                  <a:srgbClr val="F26A2E"/>
                </a:solidFill>
                <a:latin typeface="Arial"/>
              </a:rPr>
              <a:t>No measured range or field reliability claim is made yet.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</p:sp>
      <p:sp>
        <p:nvSpPr>
          <p:cNvPr id="3" name="Panel"/>
          <p:cNvSpPr/>
          <p:nvPr/>
        </p:nvSpPr>
        <p:spPr>
          <a:xfrm>
            <a:off x="502920" y="512064"/>
            <a:ext cx="64008" cy="45720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49808" y="43891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3200" b="1">
                <a:solidFill>
                  <a:srgbClr val="171717"/>
                </a:solidFill>
                <a:latin typeface="Arial"/>
              </a:rPr>
              <a:t>Limits and next steps</a:t>
            </a:r>
            <a:endParaRPr lang="en-US"/>
          </a:p>
        </p:txBody>
      </p:sp>
      <p:sp>
        <p:nvSpPr>
          <p:cNvPr id="5" name="Panel"/>
          <p:cNvSpPr/>
          <p:nvPr/>
        </p:nvSpPr>
        <p:spPr>
          <a:xfrm>
            <a:off x="548640" y="1243584"/>
            <a:ext cx="11091672" cy="2286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57607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SHONGKET  |  BEYOND THE MOBILE COVERAGE</a:t>
            </a:r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000" b="1">
                <a:solidFill>
                  <a:srgbClr val="77736D"/>
                </a:solidFill>
                <a:latin typeface="Arial"/>
              </a:rPr>
              <a:t>08</a:t>
            </a:r>
            <a:endParaRPr lang="en-US"/>
          </a:p>
        </p:txBody>
      </p:sp>
      <p:sp>
        <p:nvSpPr>
          <p:cNvPr id="8" name="Text"/>
          <p:cNvSpPr txBox="1"/>
          <p:nvPr/>
        </p:nvSpPr>
        <p:spPr>
          <a:xfrm>
            <a:off x="786384" y="161848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300" b="1">
                <a:solidFill>
                  <a:srgbClr val="F26A2E"/>
                </a:solidFill>
                <a:latin typeface="Arial"/>
              </a:rPr>
              <a:t>Current limits</a:t>
            </a:r>
            <a:endParaRPr lang="en-US"/>
          </a:p>
        </p:txBody>
      </p:sp>
      <p:sp>
        <p:nvSpPr>
          <p:cNvPr id="9" name="Text"/>
          <p:cNvSpPr txBox="1"/>
          <p:nvPr/>
        </p:nvSpPr>
        <p:spPr>
          <a:xfrm>
            <a:off x="786384" y="2194560"/>
            <a:ext cx="475488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900" b="0">
                <a:solidFill>
                  <a:srgbClr val="171717"/>
                </a:solidFill>
                <a:latin typeface="Arial"/>
              </a:rPr>
              <a:t>Up to 12 handhelds; three relay hops; RAM message history; shared crew key; no SOS or cloud archive.</a:t>
            </a:r>
            <a:endParaRPr lang="en-US"/>
          </a:p>
        </p:txBody>
      </p:sp>
      <p:sp>
        <p:nvSpPr>
          <p:cNvPr id="10" name="Panel"/>
          <p:cNvSpPr/>
          <p:nvPr/>
        </p:nvSpPr>
        <p:spPr>
          <a:xfrm>
            <a:off x="6035040" y="1600200"/>
            <a:ext cx="27432" cy="4160520"/>
          </a:xfrm>
          <a:prstGeom prst="rect">
            <a:avLst/>
          </a:prstGeom>
          <a:solidFill>
            <a:srgbClr val="F26A2E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6400800" y="161848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300" b="1">
                <a:solidFill>
                  <a:srgbClr val="F26A2E"/>
                </a:solidFill>
                <a:latin typeface="Arial"/>
              </a:rPr>
              <a:t>Next steps</a:t>
            </a:r>
            <a:endParaRPr lang="en-US"/>
          </a:p>
        </p:txBody>
      </p:sp>
      <p:sp>
        <p:nvSpPr>
          <p:cNvPr id="12" name="Text"/>
          <p:cNvSpPr txBox="1"/>
          <p:nvPr/>
        </p:nvSpPr>
        <p:spPr>
          <a:xfrm>
            <a:off x="6400800" y="2194560"/>
            <a:ext cx="475488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1900" b="0">
                <a:solidFill>
                  <a:srgbClr val="171717"/>
                </a:solidFill>
                <a:latin typeface="Arial"/>
              </a:rPr>
              <a:t>Document staged bench trials, attach real device evidence, then measure outdoor behavior under recorded conditions.</a:t>
            </a:r>
            <a:endParaRPr lang="en-US"/>
          </a:p>
        </p:txBody>
      </p:sp>
      <p:sp>
        <p:nvSpPr>
          <p:cNvPr id="13" name="Text"/>
          <p:cNvSpPr txBox="1"/>
          <p:nvPr/>
        </p:nvSpPr>
        <p:spPr>
          <a:xfrm>
            <a:off x="795528" y="564184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en-US" sz="2100" b="1">
                <a:solidFill>
                  <a:srgbClr val="171717"/>
                </a:solidFill>
                <a:latin typeface="Arial"/>
              </a:rPr>
              <a:t>Shongket connects a standalone handheld, a small LoRa mesh, and an optional phone.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ngket">
  <a:themeElements>
    <a:clrScheme name="Shongket">
      <a:dk1>
        <a:srgbClr val="171717"/>
      </a:dk1>
      <a:lt1>
        <a:srgbClr val="F5F3EE"/>
      </a:lt1>
      <a:dk2>
        <a:srgbClr val="171717"/>
      </a:dk2>
      <a:lt2>
        <a:srgbClr val="EBE7DF"/>
      </a:lt2>
      <a:accent1>
        <a:srgbClr val="F26A2E"/>
      </a:accent1>
      <a:accent2>
        <a:srgbClr val="26734D"/>
      </a:accent2>
      <a:accent3>
        <a:srgbClr val="77736D"/>
      </a:accent3>
      <a:accent4>
        <a:srgbClr val="D8D2C8"/>
      </a:accent4>
      <a:accent5>
        <a:srgbClr val="171717"/>
      </a:accent5>
      <a:accent6>
        <a:srgbClr val="EBE7DF"/>
      </a:accent6>
      <a:hlink>
        <a:srgbClr val="F26A2E"/>
      </a:hlink>
      <a:folHlink>
        <a:srgbClr val="F26A2E"/>
      </a:folHlink>
    </a:clrScheme>
    <a:fontScheme name="Shongket">
      <a:majorFont>
        <a:latin typeface="Arial"/>
      </a:majorFont>
      <a:minorFont>
        <a:latin typeface="Arial"/>
      </a:minorFont>
    </a:fontScheme>
    <a:fmtScheme name="Shongket">
      <a:fillStyleLst>
        <a:solidFill>
          <a:srgbClr val="F5F3EE"/>
        </a:solidFill>
      </a:fillStyleLst>
      <a:lnStyleLst>
        <a:ln w="9525"/>
      </a:lnStyleLst>
      <a:effectStyleLst>
        <a:effectStyle>
          <a:effectLst/>
        </a:effectStyle>
      </a:effectStyleLst>
      <a:bgFillStyleLst>
        <a:solidFill>
          <a:srgbClr val="F5F3EE"/>
        </a:solidFill>
      </a:bgFillStyleLst>
    </a:fmtScheme>
  </a:themeElements>
</a:theme>
</file>